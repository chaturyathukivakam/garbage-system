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><a:xfrm><a:off x="0" y="0"/><a:ext cx="0" cy="0"/><a:chOff x="0" y="0"/><a:chExt cx="0" cy="0"/></a:xfrm></p:grpSpPr>
      
      <!-- Top Red Banner -->
      <p:sp>
        <p:nvSpPr><p:cNvPr id="2" name="TopBar"/><p:cNvSpPr/><p:nvPr/></p:nvSpPr>
        <p:spPr>
          <a:xfrm><a:off x="0" y="0"/><a:ext cx="12192000" cy="180000"/></a:xfrm>
          <a:prstGeom prst="rect"><a:avLst/></a:prstGeom>
          <a:solidFill><a:srgbClr val="A31D24"/></a:solidFill>
          <a:ln><a:noFill/></a:ln>
        </p:spPr>
      </p:sp>

      <!-- Department & University Header -->
      <p:sp>
        <p:nvSpPr><p:cNvPr id="3" name="UniHeader"/><p:cNvSpPr><a:spLocks noGrp="1"/></p:cNvSpPr><p:nvPr/></p:nvSpPr>
        <p:spPr><a:xfrm><a:off x="800000" y="450000"/><a:ext cx="10592000" cy="700000"/></a:xfrm></p:spPr>
        <p:txBody>
          <a:bodyPr/><a:lstStyle/>
          <a:p>
            <a:r><a:rPr b="1" sz="1800"><a:solidFill><a:srgbClr val="A31D24"/></a:solidFill></a:rPr><a:t>DEPARTMENT OF COMPUTER APPLICATIONS</a:t></a:r>
          </a:p>
          <a:p>
            <a:r><a:rPr b="1" sz="1300"><a:solidFill><a:srgbClr val="4B5563"/></a:solidFill></a:rPr><a:t>ALLIANCE UNIVERSITY  |  NAAC GRADE A+ ACCREDITED</a:t></a:r>
          </a:p>
        </p:txBody>
      </p:sp>

      <!-- Main Project Title Box -->
      <p:sp>
        <p:nvSpPr><p:cNvPr id="4" name="TitleBox"/><p:cNvSpPr/><p:nvPr/></p:nvSpPr>
        <p:spPr><a:xfrm><a:off x="800000" y="1600000"/><a:ext cx="10592000" cy="2200000"/></a:xfrm></p:spPr>
        <p:txBody>
          <a:bodyPr/><a:lstStyle/>
          <a:p>
            <a:r><a:rPr b="1" sz="1400"><a:solidFill><a:srgbClr val="10B981"/></a:solidFill></a:rPr><a:t>STRONGEST PROJECT PRESENTATION  •  BCA FINAL YEAR</a:t></a:r>
          </a:p>
          <a:p>
            <a:pPr><a:spcBfr><a:spcPts val="1200"/></a:spcBfr></a:pPr>
            <a:r><a:rPr b="1" sz="3800"><a:solidFill><a:srgbClr val="1E293B"/></a:solidFill></a:rPr><a:t>EcoTrack: Smart Garbage Management</a:t></a:r>
          </a:p>
          <a:p>
            <a:r><a:rPr b="1" sz="2800"><a:solidFill><a:srgbClr val="A31D24"/></a:solidFill></a:rPr><a:t>&amp; Waste Analytics System</a:t></a:r>
          </a:p>
        </p:txBody>
      </p:sp>

      <!-- Student Credentials Card -->
      <p:sp>
        <p:nvSpPr><p:cNvPr id="5" name="StudentCard"/><p:cNvSpPr/><p:nvPr/></p:nvSpPr>
        <p:spPr>
          <a:xfrm><a:off x="800000" y="4200000"/><a:ext cx="10592000" cy="1800000"/></a:xfrm>
          <a:prstGeom prst="roundRect"><a:avLst><a:gd name="adj" fmla="val 2500"/></a:avLst></a:prstGeom>
          <a:solidFill><a:srgbClr val="F8FAFC"/></a:solidFill>
          <a:ln w="19050"><a:solidFill><a:srgbClr val="E2E8F0"/></a:solidFill></a:ln>
        </p:spPr>
        <p:txBody>
          <a:bodyPr lIns="300000" tIns="250000"/><a:lstStyle/>
          <a:p><a:r><a:rPr b="1" sz="1500"><a:solidFill><a:srgbClr val="1E293B"/></a:solidFill></a:rPr><a:t>Student Name: </a:t></a:r><a:r><a:rPr sz="1500"><a:t>Thukivakam Chaturya Reddy</a:t></a:r></a:p>
          <a:p><a:r><a:rPr b="1" sz="1500"><a:solidFill><a:srgbClr val="1E293B"/></a:solidFill></a:rPr><a:t>Register Number: </a:t></a:r><a:r><a:rPr sz="1500"><a:t>[Enter Register Number]</a:t></a:r></a:p>
          <a:p><a:r><a:rPr b="1" sz="1500"><a:solidFill><a:srgbClr val="1E293B"/></a:solidFill></a:rPr><a:t>Specialization: </a:t></a:r><a:r><a:rPr sz="1500"><a:t>Bachelor of Computer Applications (BCA)</a:t></a:r></a:p>
          <a:p><a:r><a:rPr b="1" sz="1500"><a:solidFill><a:srgbClr val="A31D24"/></a:solidFill></a:rPr><a:t>Date: </a:t></a:r><a:r><a:rPr sz="1500"><a:t>29-10-2026</a:t></a:r></a:p>
        </p:txBody>
      </p:sp>

      <!-- Bottom Red Accent Line -->
      <p:sp>
        <p:nvSpPr><p:cNvPr id="6" name="BottomBar"/><p:cNvSpPr/><p:nvPr/></p:nvSpPr>
        <p:spPr>
          <a:xfrm><a:off x="0" y="6650000"/><a:ext cx="12192000" cy="208000"/></a:xfrm>
          <a:prstGeom prst="rect"><a:avLst/></a:prstGeom>
          <a:solidFill><a:srgbClr val="A31D24"/></a:solidFill>
          <a:ln><a:noFill/></a:ln>
        </p:spPr>
      </p:sp>
    </p:spTree>
  </p:cSld>
</p:sld>

</file>

<file path=ppt/slides/slide2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><a:xfrm><a:off x="0" y="0"/><a:ext cx="0" cy="0"/><a:chOff x="0" y="0"/><a:chExt cx="0" cy="0"/></a:xfrm></p:grpSpPr>

      <!-- Slide Header -->
      <p:sp>
        <p:nvSpPr><p:cNvPr id="2" name="Title"/><p:cNvSpPr/><p:nvPr/></p:nvSpPr>
        <p:spPr><a:xfrm><a:off x="800000" y="450000"/><a:ext cx="10592000" cy="800000"/></a:xfrm></p:spPr>
        <p:txBody>
          <a:bodyPr/><a:lstStyle/>
          <a:p><a:r><a:rPr b="1" sz="1300"><a:solidFill><a:srgbClr val="A31D24"/></a:solidFill></a:rPr><a:t>ALLIANCE UNIVERSITY  |  DEPARTMENT OF COMPUTER APPLICATIONS</a:t></a:r></a:p>
          <a:p><a:r><a:rPr b="1" sz="2800"><a:solidFill><a:srgbClr val="1E293B"/></a:solidFill></a:rPr><a:t>Project Overview &amp; Problem Statement</a:t></a:r></a:p>
        </p:txBody>
      </p:sp>

      <!-- Left Card: Problem & Gap -->
      <p:sp>
        <p:nvSpPr><p:cNvPr id="3" name="ProblemCard"/><p:cNvSpPr/><p:nvPr/></p:nvSpPr>
        <p:spPr>
          <a:xfrm><a:off x="800000" y="1500000"/><a:ext cx="5100000" cy="4600000"/></a:xfrm>
          <a:prstGeom prst="roundRect"><a:avLst><a:gd name="adj" fmla="val 2000"/></a:avLst></a:prstGeom>
          <a:solidFill><a:srgbClr val="F8FAFC"/></a:solidFill>
          <a:ln w="19050"><a:solidFill><a:srgbClr val="E2E8F0"/></a:solidFill></a:ln>
        </p:spPr>
        <p:txBody>
          <a:bodyPr lIns="250000" tIns="250000" rIns="250000"/><a:lstStyle/>
          <a:p><a:r><a:rPr b="1" sz="1800"><a:solidFill><a:srgbClr val="A31D24"/></a:solidFill></a:rPr><a:t>1. Project Nature</a:t></a:r></a:p>
          <a:p><a:r><a:rPr sz="1300"><a:t>• Type: Academic Capstone Project</a:t></a:r></a:p>
          <a:p><a:r><a:rPr sz="1300"><a:t>• Execution: Individual Project (1 Member)</a:t></a:r></a:p>
          
          <a:p><a:pPr><a:spcBfr><a:spcPts val="1200"/></a:spcBfr></a:pPr><a:r><a:rPr b="1" sz="1800"><a:solidFill><a:srgbClr val="A31D24"/></a:solidFill></a:rPr><a:t>2. Problem Statement</a:t></a:r></a:p>
          <a:p><a:r><a:rPr sz="1300"><a:t>Solves unmonitored municipal solid waste accumulation and low recycling segregation rates for city administrators, waste processing hubs, and civic authorities in a unified analytical platform.</a:t></a:r></a:p>

          <a:p><a:pPr><a:spcBfr><a:spcPts val="1200"/></a:spcBfr></a:pPr><a:r><a:rPr b="1" sz="1800"><a:solidFill><a:srgbClr val="A31D24"/></a:solidFill></a:rPr><a:t>3. The Gap It Bridges</a:t></a:r></a:p>
          <a:p><a:r><a:rPr sz="1300"><a:t>Replaces fragmented paper logs and disjointed spreadsheets with automated ward-level tracking and environmental impact calculation.</a:t></a:r></a:p>
        </p:txBody>
      </p:sp>

      <!-- Right Card: Outcome & Proof -->
      <p:sp>
        <p:nvSpPr><p:cNvPr id="4" name="OutcomeCard"/><p:cNvSpPr/><p:nvPr/></p:nvSpPr>
        <p:spPr>
          <a:xfrm><a:off x="6292000" y="1500000"/><a:ext cx="5100000" cy="4600000"/></a:xfrm>
          <a:prstGeom prst="roundRect"><a:avLst><a:gd name="adj" fmla="val 2000"/></a:avLst></a:prstGeom>
          <a:solidFill><a:srgbClr val="F8FAFC"/></a:solidFill>
          <a:ln w="19050"><a:solidFill><a:srgbClr val="A31D24"/></a:solidFill></a:ln>
        </p:spPr>
        <p:txBody>
          <a:bodyPr lIns="250000" tIns="250000" rIns="250000"/><a:lstStyle/>
          <a:p><a:r><a:rPr b="1" sz="1800"><a:solidFill><a:srgbClr val="10B981"/></a:solidFill></a:rPr><a:t>4. Verifiable Outcome</a:t></a:r></a:p>
          <a:p><a:r><a:rPr sz="1300"><a:t>• Evaluated over 35 multi-zone municipal collection records across 5 zones.</a:t></a:r></a:p>
          <a:p><a:r><a:rPr sz="1300"><a:t>• Verified 68.4% waste diversion &amp; recovery rate.</a:t></a:r></a:p>
          <a:p><a:r><a:rPr sz="1300"><a:t>• Quantified 54+ Metric Tons of CO2e avoided.</a:t></a:r></a:p>
          <a:p><a:r><a:rPr sz="1300"><a:t>• Instant sub-second dashboard recalculation upon new record injection.</a:t></a:r></a:p>

          <a:p><a:pPr><a:spcBfr><a:spcPts val="1200"/></a:spcBfr></a:pPr><a:r><a:rPr b="1" sz="1800"><a:solidFill><a:srgbClr val="1E293B"/></a:solidFill></a:rPr><a:t>5. Verification Links</a:t></a:r></a:p>
          <a:p><a:r><a:rPr b="1" sz="1300"><a:t>GitHub Repo: </a:t></a:r><a:r><a:rPr sz="1200"><a:solidFill><a:srgbClr val="2563EB"/></a:solidFill></a:rPr><a:t>https://github.com/Chaturyathukivakam/Garbage-System</a:t></a:r></a:p>
          <a:p><a:r><a:rPr b="1" sz="1300"><a:t>Demo: </a:t></a:r><a:r><a:rPr sz="1200"><a:solidFill><a:srgbClr val="A31D24"/></a:solidFill></a:rPr><a:t>Streamlit Community Cloud (Public / No Login Required)</a:t></a:r></a:p>
        </p:txBody>
      </p:sp>

      <!-- Red Bottom Edge -->
      <p:sp>
        <p:nvSpPr><p:cNvPr id="5" name="BottomBar"/><p:cNvSpPr/><p:nvPr/></p:nvSpPr>
        <p:spPr><a:xfrm><a:off x="0" y="6650000"/><a:ext cx="12192000" cy="208000"/></a:xfrm><a:prstGeom prst="rect"><a:avLst/></a:prstGeom><a:solidFill><a:srgbClr val="A31D24"/></a:solidFill></p:spPr>
      </p:sp>
    </p:spTree>
  </p:cSld>
</p:sld>

</file>

<file path=ppt/slides/slide3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><a:xfrm><a:off x="0" y="0"/><a:ext cx="0" cy="0"/><a:chOff x="0" y="0"/><a:chExt cx="0" cy="0"/></a:xfrm></p:grpSpPr>

      <!-- Slide Header -->
      <p:sp>
        <p:nvSpPr><p:cNvPr id="2" name="Title"/><p:cNvSpPr/><p:nvPr/></p:nvSpPr>
        <p:spPr><a:xfrm><a:off x="800000" y="450000"/><a:ext cx="10592000" cy="800000"/></a:xfrm></p:spPr>
        <p:txBody>
          <a:bodyPr/><a:lstStyle/>
          <a:p><a:r><a:rPr b="1" sz="1300"><a:solidFill><a:srgbClr val="A31D24"/></a:solidFill></a:rPr><a:t>ALLIANCE UNIVERSITY  |  CORE SYSTEM CAPABILITIES</a:t></a:r></a:p>
          <a:p><a:r><a:rPr b="1" sz="2800"><a:solidFill><a:srgbClr val="1E293B"/></a:solidFill></a:rPr><a:t>Key Features &amp; Technical Highlights</a:t></a:r></a:p>
        </p:txBody>
      </p:sp>

      <!-- 3 Feature Columns -->
      <!-- Box 1 -->
      <p:sp>
        <p:nvSpPr><p:cNvPr id="3" name="F1"/><p:cNvSpPr/><p:nvPr/></p:nvSpPr>
        <p:spPr>
          <a:xfrm><a:off x="800000" y="1500000"/><a:ext cx="3300000" cy="4600000"/></a:xfrm>
          <a:prstGeom prst="roundRect"><a:avLst><a:gd name="adj" fmla="val 2000"/></a:avLst></a:prstGeom>
          <a:solidFill><a:srgbClr val="F8FAFC"/></a:solidFill>
          <a:ln w="19050"><a:solidFill><a:srgbClr val="E2E8F0"/></a:solidFill></a:ln>
        </p:spPr>
        <p:txBody>
          <a:bodyPr lIns="200000" tIns="200000" rIns="200000"/><a:lstStyle/>
          <a:p><a:r><a:rPr b="1" sz="1600"><a:solidFill><a:srgbClr val="1E293B"/></a:solidFill></a:rPr><a:t>1. Home KPI Dashboard</a:t></a:r></a:p>
          <a:p><a:r><a:rPr sz="1200"><a:t>• Live metrics: Tonnage, recovery %, operational cost &amp; active zones.</a:t></a:r></a:p>
          <a:p><a:r><a:rPr sz="1200"><a:t>• Interactive Plotly donut, area trend, and stacked zone bar charts.</a:t></a:r></a:p>

          <a:p><a:pPr><a:spcBfr><a:spcPts val="1200"/></a:spcBfr></a:pPr><a:r><a:rPr b="1" sz="1600"><a:solidFill><a:srgbClr val="1E293B"/></a:solidFill></a:rPr><a:t>2. Data Filtering &amp; Export</a:t></a:r></a:p>
          <a:p><a:r><a:rPr sz="1200"><a:t>• Multi-criteria slicing: Zone, Category, Recyclable, Date range.</a:t></a:r></a:p>
          <a:p><a:r><a:rPr sz="1200"><a:t>• One-click export of sanitized tables as CSV files.</a:t></a:r></a:p>
        </p:txBody>
      </p:sp>

      <!-- Box 2 (Strongest Work) -->
      <p:sp>
        <p:nvSpPr><p:cNvPr id="4" name="F2"/><p:cNvSpPr/><p:nvPr/></p:nvSpPr>
        <p:spPr>
          <a:xfrm><a:off x="4446000" y="1500000"/><a:ext cx="3300000" cy="4600000"/></a:xfrm>
          <a:prstGeom prst="roundRect"><a:avLst><a:gd name="adj" fmla="val 2000"/></a:avLst></a:prstGeom>
          <a:solidFill><a:srgbClr val="ECFDF5"/></a:solidFill>
          <a:ln w="25400"><a:solidFill><a:srgbClr val="10B981"/></a:solidFill></a:ln>
        </p:spPr>
        <p:txBody>
          <a:bodyPr lIns="200000" tIns="200000" rIns="200000"/><a:lstStyle/>
          <a:p><a:r><a:rPr b="1" sz="1600"><a:solidFill><a:srgbClr val="10B981"/></a:solidFill></a:rPr><a:t>⭐ STRONGEST WORK</a:t></a:r></a:p>
          <a:p><a:r><a:rPr b="1" sz="1500"><a:solidFill><a:srgbClr val="1E293B"/></a:solidFill></a:rPr><a:t>3. Dynamic Entry Logger</a:t></a:r></a:p>
          <a:p><a:r><a:rPr sz="1200"><a:t>In-session logging form that validates weight, zone, and disposal methods, instantly updating the global reactive cache.</a:t></a:r></a:p>

          <a:p><a:pPr><a:spcBfr><a:spcPts val="1200"/></a:spcBfr></a:pPr><a:r><a:rPr b="1" sz="1500"><a:solidFill><a:srgbClr val="1E293B"/></a:solidFill></a:rPr><a:t>4. Carbon Impact Engine</a:t></a:r></a:p>
          <a:p><a:r><a:rPr sz="1200"><a:t>Mathematical models for avoided CO2e (1.54 MT/ton), trees preserved (17/ton paper), energy conserved (kWh) &amp; landfill m3 spared.</a:t></a:r></a:p>
        </p:txBody>
      </p:sp>

      <!-- Box 3 -->
      <p:sp>
        <p:nvSpPr><p:cNvPr id="5" name="F3"/><p:cNvSpPr/><p:nvPr/></p:nvSpPr>
        <p:spPr>
          <a:xfrm><a:off x="8092000" y="1500000"/><a:ext cx="3300000" cy="4600000"/></a:xfrm>
          <a:prstGeom prst="roundRect"><a:avLst><a:gd name="adj" fmla="val 2000"/></a:avLst></a:prstGeom>
          <a:solidFill><a:srgbClr val="F8FAFC"/></a:solidFill>
          <a:ln w="19050"><a:solidFill><a:srgbClr val="E2E8F0"/></a:solidFill></a:ln>
        </p:spPr>
        <p:txBody>
          <a:bodyPr lIns="200000" tIns="200000" rIns="200000"/><a:lstStyle/>
          <a:p><a:r><a:rPr b="1" sz="1600"><a:solidFill><a:srgbClr val="1E293B"/></a:solidFill></a:rPr><a:t>5. Segregation Rules</a:t></a:r></a:p>
          <a:p><a:r><a:rPr sz="1200"><a:t>Color-coded reference guide for Organic (Green), Dry (Blue), Hazardous (Red), and E-Waste (Purple).</a:t></a:r></a:p>

          <a:p><a:pPr><a:spcBfr><a:spcPts val="1200"/></a:spcBfr></a:pPr><a:r><a:rPr b="1" sz="1600"><a:solidFill><a:srgbClr val="A31D24"/></a:solidFill></a:rPr><a:t>Honest Limitations</a:t></a:r></a:p>
          <a:p><a:r><a:rPr sz="1200"><a:t>• 100% complete and operational via session-state &amp; CSV.</a:t></a:r></a:p>
          <a:p><a:r><a:rPr sz="1200"><a:t>• Multi-user database persistence (PostgreSQL) planned as next milestone.</a:t></a:r></a:p>
        </p:txBody>
      </p:sp>

      <!-- Red Bottom Edge -->
      <p:sp>
        <p:nvSpPr><p:cNvPr id="6" name="BottomBar"/><p:cNvSpPr/><p:nvPr/></p:nvSpPr>
        <p:spPr><a:xfrm><a:off x="0" y="6650000"/><a:ext cx="12192000" cy="208000"/></a:xfrm><a:prstGeom prst="rect"><a:avLst/></a:prstGeom><a:solidFill><a:srgbClr val="A31D24"/></a:solidFill></p:spPr>
      </p:sp>
    </p:spTree>
  </p:cSld>
</p:sld>

</file>

<file path=ppt/slides/slide4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><a:xfrm><a:off x="0" y="0"/><a:ext cx="0" cy="0"/><a:chOff x="0" y="0"/><a:chExt cx="0" cy="0"/></a:xfrm></p:grpSpPr>

      <!-- Slide Header -->
      <p:sp>
        <p:nvSpPr><p:cNvPr id="2" name="Title"/><p:cNvSpPr/><p:nvPr/></p:nvSpPr>
        <p:spPr><a:xfrm><a:off x="800000" y="450000"/><a:ext cx="10592000" cy="800000"/></a:xfrm></p:spPr>
        <p:txBody>
          <a:bodyPr/><a:lstStyle/>
          <a:p><a:r><a:rPr b="1" sz="1300"><a:solidFill><a:srgbClr val="A31D24"/></a:solidFill></a:rPr><a:t>ALLIANCE UNIVERSITY  |  ENGINEERING ARCHITECTURE</a:t></a:r></a:p>
          <a:p><a:r><a:rPr b="1" sz="2800"><a:solidFill><a:srgbClr val="1E293B"/></a:solidFill></a:rPr><a:t>Technology Stack &amp; Implementation</a:t></a:r></a:p>
        </p:txBody>
      </p:sp>

      <!-- Left Card: Tech Stack Table -->
      <p:sp>
        <p:nvSpPr><p:cNvPr id="3" name="StackCard"/><p:cNvSpPr/><p:nvPr/></p:nvSpPr>
        <p:spPr>
          <a:xfrm><a:off x="800000" y="1500000"/><a:ext cx="5100000" cy="4600000"/></a:xfrm>
          <a:prstGeom prst="roundRect"><a:avLst><a:gd name="adj" fmla="val 2000"/></a:avLst></a:prstGeom>
          <a:solidFill><a:srgbClr val="F8FAFC"/></a:solidFill>
          <a:ln w="19050"><a:solidFill><a:srgbClr val="E2E8F0"/></a:solidFill></a:ln>
        </p:spPr>
        <p:txBody>
          <a:bodyPr lIns="250000" tIns="250000" rIns="250000"/><a:lstStyle/>
          <a:p><a:r><a:rPr b="1" sz="1800"><a:solidFill><a:srgbClr val="A31D24"/></a:solidFill></a:rPr><a:t>Technology Stack &amp; Justification</a:t></a:r></a:p>
          <a:p><a:r><a:rPr b="1" sz="1300"><a:t>• Python 3.10+: </a:t></a:r><a:r><a:rPr sz="1300"><a:t>High-speed tabular manipulation &amp; data modeling.</a:t></a:r></a:p>
          <a:p><a:r><a:rPr b="1" sz="1300"><a:t>• Streamlit: </a:t></a:r><a:r><a:rPr sz="1300"><a:t>Reactive web engine eliminating HTML/JS boilerplate.</a:t></a:r></a:p>
          <a:p><a:r><a:rPr b="1" sz="1300"><a:t>• Pandas: </a:t></a:r><a:r><a:rPr sz="1300"><a:t>Data cleaning, aggregation, group-by metrics.</a:t></a:r></a:p>
          <a:p><a:r><a:rPr b="1" sz="1300"><a:t>• Plotly: </a:t></a:r><a:r><a:rPr sz="1300"><a:t>Interactive vector visualizations with hover inspection.</a:t></a:r></a:p>
          <a:p><a:r><a:rPr b="1" sz="1300"><a:t>• Git &amp; GitHub: </a:t></a:r><a:r><a:rPr sz="1300"><a:t>Continuous version control &amp; release tracking.</a:t></a:r></a:p>
          <a:p><a:r><a:rPr b="1" sz="1300"><a:t>• Streamlit Cloud: </a:t></a:r><a:r><a:rPr sz="1300"><a:t>Global serverless public hosting.</a:t></a:r></a:p>
        </p:txBody>
      </p:sp>

      <!-- Right Card: Workflow & Challenge -->
      <p:sp>
        <p:nvSpPr><p:cNvPr id="4" name="WorkflowCard"/><p:cNvSpPr/><p:nvPr/></p:nvSpPr>
        <p:spPr>
          <a:xfrm><a:off x="6292000" y="1500000"/><a:ext cx="5100000" cy="4600000"/></a:xfrm>
          <a:prstGeom prst="roundRect"><a:avLst><a:gd name="adj" fmla="val 2000"/></a:avLst></a:prstGeom>
          <a:solidFill><a:srgbClr val="F8FAFC"/></a:solidFill>
          <a:ln w="19050"><a:solidFill><a:srgbClr val="A31D24"/></a:solidFill></a:ln>
        </p:spPr>
        <p:txBody>
          <a:bodyPr lIns="250000" tIns="250000" rIns="250000"/><a:lstStyle/>
          <a:p><a:r><a:rPr b="1" sz="1800"><a:solidFill><a:srgbClr val="10B981"/></a:solidFill></a:rPr><a:t>Dataflow Architecture</a:t></a:r></a:p>
          <a:p><a:r><a:rPr sz="1300"><a:t>1. Raw Collection Logs (CSV Upload or In-Session Form)</a:t></a:r></a:p>
          <a:p><a:r><a:rPr sz="1300"><a:t>2. Pandas Ingestion &amp; Datetime Validation</a:t></a:r></a:p>
          <a:p><a:r><a:rPr sz="1300"><a:t>3. Plotly Visualization Engine &amp; Carbon Math</a:t></a:r></a:p>
          <a:p><a:r><a:rPr sz="1300"><a:t>4. Streamlit Multi-Page Reactive UI Layer</a:t></a:r></a:p>

          <a:p><a:pPr><a:spcBfr><a:spcPts val="1200"/></a:spcBfr></a:pPr><a:r><a:rPr b="1" sz="1800"><a:solidFill><a:srgbClr val="A31D24"/></a:solidFill></a:rPr><a:t>Challenge Solved</a:t></a:r></a:p>
          <a:p><a:r><a:rPr b="1" sz="1300"><a:t>State Synchronization: </a:t></a:r><a:r><a:rPr sz="1300"><a:t>Streamlit normally re-executes scripts top-to-bottom. Built an encapsulated st.session_state cache that seamlessly merges manual additions without resetting user-applied table filters or charts.</a:t></a:r></a:p>
        </p:txBody>
      </p:sp>

      <!-- Red Bottom Edge -->
      <p:sp>
        <p:nvSpPr><p:cNvPr id="5" name="BottomBar"/><p:cNvSpPr/><p:nvPr/></p:nvSpPr>
        <p:spPr><a:xfrm><a:off x="0" y="6650000"/><a:ext cx="12192000" cy="208000"/></a:xfrm><a:prstGeom prst="rect"><a:avLst/></a:prstGeom><a:solidFill><a:srgbClr val="A31D24"/></a:solidFill></p:spPr>
      </p:sp>
    </p:spTree>
  </p:cSld>
</p:sld>

</file>

<file path=ppt/slides/slide5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><a:xfrm><a:off x="0" y="0"/><a:ext cx="0" cy="0"/><a:chOff x="0" y="0"/><a:chExt cx="0" cy="0"/></a:xfrm></p:grpSpPr>

      <!-- Slide Header -->
      <p:sp>
        <p:nvSpPr><p:cNvPr id="2" name="Title"/><p:cNvSpPr/><p:nvPr/></p:nvSpPr>
        <p:spPr><a:xfrm><a:off x="800000" y="450000"/><a:ext cx="10592000" cy="800000"/></a:xfrm></p:spPr>
        <p:txBody>
          <a:bodyPr/><a:lstStyle/>
          <a:p><a:r><a:rPr b="1" sz="1300"><a:solidFill><a:srgbClr val="A31D24"/></a:solidFill></a:rPr><a:t>ALLIANCE UNIVERSITY  |  STUDENT CONTRIBUTION</a:t></a:r></a:p>
          <a:p><a:r><a:rPr b="1" sz="2800"><a:solidFill><a:srgbClr val="1E293B"/></a:solidFill></a:rPr><a:t>My Individual Contribution &amp; Learnings</a:t></a:r></a:p>
        </p:txBody>
      </p:sp>

      <!-- Left Card: Role & Proven Skills -->
      <p:sp>
        <p:nvSpPr><p:cNvPr id="3" name="RoleCard"/><p:cNvSpPr/><p:nvPr/></p:nvSpPr>
        <p:spPr>
          <a:xfrm><a:off x="800000" y="1500000"/><a:ext cx="5100000" cy="4600000"/></a:xfrm>
          <a:prstGeom prst="roundRect"><a:avLst><a:gd name="adj" fmla="val 2000"/></a:avLst></a:prstGeom>
          <a:solidFill><a:srgbClr val="F8FAFC"/></a:solidFill>
          <a:ln w="19050"><a:solidFill><a:srgbClr val="E2E8F0"/></a:solidFill></a:ln>
        </p:spPr>
        <p:txBody>
          <a:bodyPr lIns="250000" tIns="250000" rIns="250000"/><a:lstStyle/>
          <a:p><a:r><a:rPr b="1" sz="1800"><a:solidFill><a:srgbClr val="A31D24"/></a:solidFill></a:rPr><a:t>My Specific Role (100% Individual)</a:t></a:r></a:p>
          <a:p><a:r><a:rPr sz="1300"><a:t>• Designed data schema &amp; sample multi-zone dataset.</a:t></a:r></a:p>
          <a:p><a:r><a:rPr sz="1300"><a:t>• Engineered the complete Python/Streamlit codebase.</a:t></a:r></a:p>
          <a:p><a:r><a:rPr sz="1300"><a:t>• Formulated environmental carbon offset algorithms.</a:t></a:r></a:p>
          <a:p><a:r><a:rPr sz="1300"><a:t>• Implemented responsive UI with Plotly interactive charts.</a:t></a:r></a:p>
          <a:p><a:r><a:rPr sz="1300"><a:t>• Deployed production build to Streamlit Community Cloud.</a:t></a:r></a:p>

          <a:p><a:pPr><a:spcBfr><a:spcPts val="1200"/></a:spcBfr></a:pPr><a:r><a:rPr b="1" sz="1800"><a:solidFill><a:srgbClr val="10B981"/></a:solidFill></a:rPr><a:t>Skills This Project Proves</a:t></a:r></a:p>
          <a:p><a:r><a:rPr sz="1300"><a:t>Python Engineering, Exploratory Data Analysis (EDA), Data Visualization, CI/CD Cloud Deployment &amp; Git.</a:t></a:r></a:p>
        </p:txBody>
      </p:sp>

      <!-- Right Card: Learnings & Roadmap -->
      <p:sp>
        <p:nvSpPr><p:cNvPr id="4" name="LearnCard"/><p:cNvSpPr/><p:nvPr/></p:nvSpPr>
        <p:spPr>
          <a:xfrm><a:off x="6292000" y="1500000"/><a:ext cx="5100000" cy="4600000"/></a:xfrm>
          <a:prstGeom prst="roundRect"><a:avLst><a:gd name="adj" fmla="val 2000"/></a:avLst></a:prstGeom>
          <a:solidFill><a:srgbClr val="F8FAFC"/></a:solidFill>
          <a:ln w="19050"><a:solidFill><a:srgbClr val="A31D24"/></a:solidFill></a:ln>
        </p:spPr>
        <p:txBody>
          <a:bodyPr lIns="250000" tIns="250000" rIns="250000"/><a:lstStyle/>
          <a:p><a:r><a:rPr b="1" sz="1800"><a:solidFill><a:srgbClr val="1E293B"/></a:solidFill></a:rPr><a:t>Key Technical Learnings</a:t></a:r></a:p>
          <a:p><a:r><a:rPr sz="1300"><a:t>• Advanced reactive programming using Streamlit Session State.</a:t></a:r></a:p>
          <a:p><a:r><a:rPr sz="1300"><a:t>• Mathematical modeling of real-world emission factors.</a:t></a:r></a:p>
          <a:p><a:r><a:rPr sz="1300"><a:t>• Edge-case data validation for user spreadsheet uploads.</a:t></a:r></a:p>

          <a:p><a:pPr><a:spcBfr><a:spcPts val="1200"/></a:spcBfr></a:pPr><a:r><a:rPr b="1" sz="1800"><a:solidFill><a:srgbClr val="A31D24"/></a:solidFill></a:rPr><a:t>What I Would Improve Next</a:t></a:r></a:p>
          <a:p><a:r><a:rPr sz="1300"><a:t>• IoT Hardware Integration: Ultrasonic sensors in municipal dumpsters for real-time fill-level telemetry.</a:t></a:r></a:p>
          <a:p><a:r><a:rPr sz="1300"><a:t>• AI Waste Classifier: Computer vision model to identify recyclable items via smartphone camera.</a:t></a:r></a:p>
        </p:txBody>
      </p:sp>

      <!-- Red Bottom Edge -->
      <p:sp>
        <p:nvSpPr><p:cNvPr id="5" name="BottomBar"/><p:cNvSpPr/><p:nvPr/></p:nvSpPr>
        <p:spPr><a:xfrm><a:off x="0" y="6650000"/><a:ext cx="12192000" cy="208000"/></a:xfrm><a:prstGeom prst="rect"><a:avLst/></a:prstGeom><a:solidFill><a:srgbClr val="A31D24"/></a:solidFill></p:spPr>
      </p:sp>
    </p:spTree>
  </p:cSld>
</p:sld>

</file>

<file path=ppt/slides/slide6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Pr></p:nvGrpSpPr>
      <p:grpSpPr><a:xfrm><a:off x="0" y="0"/><a:ext cx="0" cy="0"/><a:chOff x="0" y="0"/><a:chExt cx="0" cy="0"/></a:xfrm></p:grpSpPr>

      <!-- Center Card -->
      <p:sp>
        <p:nvSpPr><p:cNvPr id="2" name="CenterCard"/><p:cNvSpPr/><p:nvPr/></p:nvSpPr>
        <p:spPr>
          <a:xfrm><a:off x="1500000" y="1000000"/><a:ext cx="9192000" cy="4800000"/></a:xfrm>
          <a:prstGeom prst="roundRect"><a:avLst><a:gd name="adj" fmla="val 2000"/></a:avLst></a:prstGeom>
          <a:solidFill><a:srgbClr val="F8FAFC"/></a:solidFill>
          <a:ln w="25400"><a:solidFill><a:srgbClr val="A31D24"/></a:solidFill></a:ln>
        </p:spPr>
        <p:txBody>
          <a:bodyPr lIns="400000" tIns="400000" rIns="400000" anchor="ctr"/><a:lstStyle/>
          <a:p><a:pPr algn="ctr"/><a:r><a:rPr b="1" sz="4400"><a:solidFill><a:srgbClr val="A31D24"/></a:solidFill></a:rPr><a:t>Thank You!</a:t></a:r></a:p>
          <a:p><a:pPr algn="ctr"><a:spcBfr><a:spcPts val="1200"/></a:spcBfr></a:pPr><a:r><a:rPr b="1" sz="2000"><a:solidFill><a:srgbClr val="1E293B"/></a:solidFill></a:rPr><a:t>EcoTrack: Smart Garbage Management System</a:t></a:r></a:p>
          <a:p><a:pPr algn="ctr"/><a:r><a:rPr sz="1500"><a:solidFill><a:srgbClr val="4B5563"/></a:solidFill></a:rPr><a:t>Department of Computer Applications  |  Alliance University</a:t></a:r></a:p>

          <a:p><a:pPr algn="ctr"><a:spcBfr><a:spcPts val="1600"/></a:spcBfr></a:pPr><a:r><a:rPr b="1" sz="1600"><a:solidFill><a:srgbClr val="10B981"/></a:solidFill></a:rPr><a:t>Live Repository &amp; Deployment:</a:t></a:r></a:p>
          <a:p><a:pPr algn="ctr"/><a:r><a:rPr sz="1400"><a:solidFill><a:srgbClr val="2563EB"/></a:solidFill></a:rPr><a:t>https://github.com/Chaturyathukivakam/Garbage-System</a:t></a:r></a:p>

          <a:p><a:pPr algn="ctr"><a:spcBfr><a:spcPts val="1600"/></a:spcBfr></a:pPr><a:r><a:rPr b="1" sz="1800"><a:solidFill><a:srgbClr val="1E293B"/></a:solidFill></a:rPr><a:t>Open for Questions &amp; Live Code Walkthrough</a:t></a:r></a:p>
        </p:txBody>
      </p:sp>

      <!-- Red Bottom Edge -->
      <p:sp>
        <p:nvSpPr><p:cNvPr id="3" name="BottomBar"/><p:cNvSpPr/><p:nvPr/></p:nvSpPr>
        <p:spPr><a:xfrm><a:off x="0" y="6650000"/><a:ext cx="12192000" cy="208000"/></a:xfrm><a:prstGeom prst="rect"><a:avLst/></a:prstGeom><a:solidFill><a:srgbClr val="A31D24"/></a:solidFill></p:spPr>
      </p:sp>
    </p:spTree>
  </p:cSld>
</p:sld>

</file>

<file path=ppt/theme/theme1.xml><?xml version="1.0" encoding="utf-8"?>
<a:theme xmlns:a="http://schemas.openxmlformats.org/drawingml/2006/main" name="Alliance Red Theme">
  <a:themeElements>
    <a:clrScheme name="Alliance">
      <a:dk1>
        <a:srgbClr val="1A1A1A"/>
      </a:dk1>
      <a:lt1>
        <a:srgbClr val="FFFFFF"/>
      </a:lt1>
      <a:dk2>
        <a:srgbClr val="2B2B2B"/>
      </a:dk2>
      <a:lt2>
        <a:srgbClr val="F8FAFC"/>
      </a:lt2>
      <a:accent1>
        <a:srgbClr val="A31D24"/>
      </a:accent1>
      <a:accent2>
        <a:srgbClr val="8B0000"/>
      </a:accent2>
      <a:accent3>
        <a:srgbClr val="10B981"/>
      </a:accent3>
      <a:accent4>
        <a:srgbClr val="4B5563"/>
      </a:accent4>
      <a:accent5>
        <a:srgbClr val="D97706"/>
      </a:accent5>
      <a:accent6>
        <a:srgbClr val="2563EB"/>
      </a:accent6>
      <a:hlink>
        <a:srgbClr val="A31D24"/>
      </a:hlink>
      <a:folHlink>
        <a:srgbClr val="8B0000"/>
      </a:folHlink>
    </a:clrScheme>
    <a:fontScheme name="Standard">
      <a:majorFont>
        <a:latin typeface="Helvetica Neue"/>
      </a:majorFont>
      <a:minorFont>
        <a:latin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